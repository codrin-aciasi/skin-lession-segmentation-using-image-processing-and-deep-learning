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10287000" cx="18288000"/>
  <p:notesSz cx="7559675" cy="10691800"/>
  <p:embeddedFontLst>
    <p:embeddedFont>
      <p:font typeface="Space Mono"/>
      <p:bold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6dEJcee13wUyVBzlR+hP7foV3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SpaceMono-bold.fntdata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font" Target="fonts/SpaceMon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am acest proiect despre segmentarea leziunilor pielii utilizand arhitectura U2NET in prelucrarea imaginilor. tot textul din momentul de fata sunt indicatii cu ce trebuie sa fac. poti sa l faci tu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7854b30e0_0_2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a7854b30e0_0_2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7854b30e0_0_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a7854b30e0_0_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7854b30e0_0_4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a7854b30e0_0_4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9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p9"/>
          <p:cNvSpPr txBox="1"/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FFF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0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bg>
      <p:bgPr>
        <a:solidFill>
          <a:srgbClr val="FFFF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 rot="5400000">
            <a:off x="2309040" y="-251640"/>
            <a:ext cx="4525560" cy="822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 rot="5400000">
            <a:off x="4732380" y="2171700"/>
            <a:ext cx="5851080" cy="205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 rot="5400000">
            <a:off x="541440" y="190440"/>
            <a:ext cx="5851080" cy="6019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13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13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"/>
          <p:cNvSpPr txBox="1"/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"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1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1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1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solidFill>
          <a:srgbClr val="FFFFF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5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3" name="Google Shape;43;p15"/>
          <p:cNvSpPr txBox="1"/>
          <p:nvPr>
            <p:ph idx="1"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15"/>
          <p:cNvSpPr txBox="1"/>
          <p:nvPr>
            <p:ph idx="2"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15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15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15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6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0" name="Google Shape;50;p16"/>
          <p:cNvSpPr txBox="1"/>
          <p:nvPr>
            <p:ph idx="1"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16"/>
          <p:cNvSpPr txBox="1"/>
          <p:nvPr>
            <p:ph idx="2"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6"/>
          <p:cNvSpPr txBox="1"/>
          <p:nvPr>
            <p:ph idx="3"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6"/>
          <p:cNvSpPr txBox="1"/>
          <p:nvPr>
            <p:ph idx="4"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6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6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16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7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9" name="Google Shape;59;p17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7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7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8"/>
          <p:cNvSpPr txBox="1"/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8"/>
          <p:cNvSpPr txBox="1"/>
          <p:nvPr>
            <p:ph idx="2"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8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8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8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1" name="Google Shape;71;p19"/>
          <p:cNvSpPr txBox="1"/>
          <p:nvPr>
            <p:ph idx="1"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9"/>
          <p:cNvSpPr txBox="1"/>
          <p:nvPr>
            <p:ph idx="2"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9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9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jpg"/><Relationship Id="rId6" Type="http://schemas.openxmlformats.org/officeDocument/2006/relationships/image" Target="../media/image7.jpg"/><Relationship Id="rId7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21.jpg"/><Relationship Id="rId7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0.jpg"/><Relationship Id="rId6" Type="http://schemas.openxmlformats.org/officeDocument/2006/relationships/image" Target="../media/image15.png"/><Relationship Id="rId7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3.jpg"/><Relationship Id="rId6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7.png"/><Relationship Id="rId6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/>
          <p:nvPr/>
        </p:nvSpPr>
        <p:spPr>
          <a:xfrm>
            <a:off x="0" y="0"/>
            <a:ext cx="18287640" cy="102866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"/>
          <p:cNvSpPr/>
          <p:nvPr/>
        </p:nvSpPr>
        <p:spPr>
          <a:xfrm>
            <a:off x="0" y="0"/>
            <a:ext cx="3524400" cy="1501200"/>
          </a:xfrm>
          <a:custGeom>
            <a:rect b="b" l="l" r="r" t="t"/>
            <a:pathLst>
              <a:path extrusionOk="0" h="1501584" w="3524878">
                <a:moveTo>
                  <a:pt x="0" y="0"/>
                </a:moveTo>
                <a:lnTo>
                  <a:pt x="3524878" y="0"/>
                </a:lnTo>
                <a:lnTo>
                  <a:pt x="3524878" y="1501584"/>
                </a:lnTo>
                <a:lnTo>
                  <a:pt x="0" y="15015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"/>
          <p:cNvSpPr/>
          <p:nvPr/>
        </p:nvSpPr>
        <p:spPr>
          <a:xfrm>
            <a:off x="2596725" y="7170150"/>
            <a:ext cx="131460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9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Segmentarea Leziunilor Pielii</a:t>
            </a:r>
            <a:endParaRPr b="0" sz="549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"/>
          <p:cNvSpPr/>
          <p:nvPr/>
        </p:nvSpPr>
        <p:spPr>
          <a:xfrm>
            <a:off x="11014870" y="8513155"/>
            <a:ext cx="7085400" cy="15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5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Bejenariu Codrin-Gigel</a:t>
            </a:r>
            <a:endParaRPr b="0" sz="3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400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5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Condurache Gabriel-Florin</a:t>
            </a:r>
            <a:endParaRPr b="0" sz="3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332042" y="-101600"/>
            <a:ext cx="2968298" cy="109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/>
          <p:nvPr/>
        </p:nvSpPr>
        <p:spPr>
          <a:xfrm>
            <a:off x="61560" y="0"/>
            <a:ext cx="2255400" cy="960480"/>
          </a:xfrm>
          <a:custGeom>
            <a:rect b="b" l="l" r="r" t="t"/>
            <a:pathLst>
              <a:path extrusionOk="0" h="960936" w="2255738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61560" y="9686520"/>
            <a:ext cx="18226080" cy="53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A6B5C2"/>
                </a:solidFill>
                <a:latin typeface="Space Mono"/>
                <a:ea typeface="Space Mono"/>
                <a:cs typeface="Space Mono"/>
                <a:sym typeface="Space Mono"/>
              </a:rPr>
              <a:t>Prelucrarea Imaginilor - Proiect, 2025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0" y="1009800"/>
            <a:ext cx="11011320" cy="1009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 u="none" strike="noStrike">
                <a:solidFill>
                  <a:srgbClr val="2E5375"/>
                </a:solidFill>
                <a:latin typeface="Space Mono"/>
                <a:ea typeface="Space Mono"/>
                <a:cs typeface="Space Mono"/>
                <a:sym typeface="Space Mono"/>
              </a:rPr>
              <a:t>1. Context &amp; Motivație</a:t>
            </a:r>
            <a:endParaRPr b="0" sz="6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571680" y="2242800"/>
            <a:ext cx="17203320" cy="775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0050" lvl="1" marL="734039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b="1" lang="en-US" sz="25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Context: </a:t>
            </a:r>
            <a:endParaRPr b="1" sz="250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91440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Dificultate in realizarea unui diagnostic, timpul indelungat pentru rezolvarea unor analize medicale amanuntite</a:t>
            </a:r>
            <a:endParaRPr b="1" sz="200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-310050" lvl="1" marL="734039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b="1" lang="en-US" sz="25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Motivație:</a:t>
            </a:r>
            <a:r>
              <a:rPr lang="en-US" sz="25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endParaRPr sz="250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91440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Imbunatatirea capacitatii de diagnosticare, reducerea timpului de asteptare</a:t>
            </a:r>
            <a:endParaRPr sz="2000">
              <a:solidFill>
                <a:schemeClr val="dk1"/>
              </a:solidFill>
            </a:endParaRPr>
          </a:p>
          <a:p>
            <a:pPr indent="-310050" lvl="1" marL="734039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b="1" lang="en-US" sz="25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Obiectivul proiectului: </a:t>
            </a:r>
            <a:endParaRPr b="1" sz="250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91440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Intelegerea, invatarea si utilizarea unei metode moderne de procesare de imagini, crearea unui ajutor in analiza si diagnosticarea bolilor cutanate</a:t>
            </a:r>
            <a:endParaRPr b="1" sz="200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0" y="-44280"/>
            <a:ext cx="18287640" cy="111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00">
                <a:solidFill>
                  <a:srgbClr val="1C375A"/>
                </a:solidFill>
                <a:latin typeface="Space Mono"/>
                <a:ea typeface="Space Mono"/>
                <a:cs typeface="Space Mono"/>
                <a:sym typeface="Space Mono"/>
              </a:rPr>
              <a:t>Segmentarea Leziunilor Pielii</a:t>
            </a:r>
            <a:endParaRPr b="0" sz="4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43200" y="0"/>
            <a:ext cx="2783240" cy="870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" title="ISIC_5799088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60750" y="6239150"/>
            <a:ext cx="3787225" cy="3176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" title="ISIC_0000018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457550" y="6239150"/>
            <a:ext cx="4702527" cy="3176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" title="ISIC_0000007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19813" y="6488848"/>
            <a:ext cx="3566951" cy="2676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61560" y="0"/>
            <a:ext cx="2255400" cy="960480"/>
          </a:xfrm>
          <a:custGeom>
            <a:rect b="b" l="l" r="r" t="t"/>
            <a:pathLst>
              <a:path extrusionOk="0" h="960936" w="2255738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61560" y="9686520"/>
            <a:ext cx="18226080" cy="53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A6B5C2"/>
                </a:solidFill>
                <a:latin typeface="Space Mono"/>
                <a:ea typeface="Space Mono"/>
                <a:cs typeface="Space Mono"/>
                <a:sym typeface="Space Mono"/>
              </a:rPr>
              <a:t>Prelucrarea Imaginilor - Proiect, 2025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0" y="747625"/>
            <a:ext cx="177750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 u="none" strike="noStrike">
                <a:solidFill>
                  <a:srgbClr val="2E5375"/>
                </a:solidFill>
                <a:latin typeface="Space Mono"/>
                <a:ea typeface="Space Mono"/>
                <a:cs typeface="Space Mono"/>
                <a:sym typeface="Space Mono"/>
              </a:rPr>
              <a:t>2. Arhitectura preliminară a soluției</a:t>
            </a:r>
            <a:endParaRPr b="0" sz="6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43200" y="0"/>
            <a:ext cx="2783240" cy="870067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"/>
          <p:cNvSpPr/>
          <p:nvPr/>
        </p:nvSpPr>
        <p:spPr>
          <a:xfrm>
            <a:off x="30750" y="-240830"/>
            <a:ext cx="18287700" cy="11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00">
                <a:solidFill>
                  <a:srgbClr val="1C375A"/>
                </a:solidFill>
                <a:latin typeface="Space Mono"/>
                <a:ea typeface="Space Mono"/>
                <a:cs typeface="Space Mono"/>
                <a:sym typeface="Space Mono"/>
              </a:rPr>
              <a:t>Segmentarea Leziunilor Pielii</a:t>
            </a:r>
            <a:endParaRPr b="0" sz="4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3" title="U2NETP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0450" y="1662300"/>
            <a:ext cx="13912748" cy="783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7854b30e0_0_25"/>
          <p:cNvSpPr/>
          <p:nvPr/>
        </p:nvSpPr>
        <p:spPr>
          <a:xfrm>
            <a:off x="61560" y="0"/>
            <a:ext cx="2255738" cy="960936"/>
          </a:xfrm>
          <a:custGeom>
            <a:rect b="b" l="l" r="r" t="t"/>
            <a:pathLst>
              <a:path extrusionOk="0" h="960936" w="2255738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a7854b30e0_0_25"/>
          <p:cNvSpPr/>
          <p:nvPr/>
        </p:nvSpPr>
        <p:spPr>
          <a:xfrm>
            <a:off x="61560" y="9686520"/>
            <a:ext cx="182262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A6B5C2"/>
                </a:solidFill>
                <a:latin typeface="Space Mono"/>
                <a:ea typeface="Space Mono"/>
                <a:cs typeface="Space Mono"/>
                <a:sym typeface="Space Mono"/>
              </a:rPr>
              <a:t>Prelucrarea Imaginilor - Proiect, 2025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a7854b30e0_0_25"/>
          <p:cNvSpPr/>
          <p:nvPr/>
        </p:nvSpPr>
        <p:spPr>
          <a:xfrm>
            <a:off x="0" y="747625"/>
            <a:ext cx="177750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 u="none" strike="noStrike">
                <a:solidFill>
                  <a:srgbClr val="2E5375"/>
                </a:solidFill>
                <a:latin typeface="Space Mono"/>
                <a:ea typeface="Space Mono"/>
                <a:cs typeface="Space Mono"/>
                <a:sym typeface="Space Mono"/>
              </a:rPr>
              <a:t>2. Arhitectura preliminară a soluției</a:t>
            </a:r>
            <a:endParaRPr b="0" sz="6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g3a7854b30e0_0_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43200" y="0"/>
            <a:ext cx="2783240" cy="870067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3a7854b30e0_0_25"/>
          <p:cNvSpPr/>
          <p:nvPr/>
        </p:nvSpPr>
        <p:spPr>
          <a:xfrm>
            <a:off x="30800" y="-240830"/>
            <a:ext cx="18287700" cy="11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00">
                <a:solidFill>
                  <a:srgbClr val="1C375A"/>
                </a:solidFill>
                <a:latin typeface="Space Mono"/>
                <a:ea typeface="Space Mono"/>
                <a:cs typeface="Space Mono"/>
                <a:sym typeface="Space Mono"/>
              </a:rPr>
              <a:t>Segmentarea Leziunilor Pielii</a:t>
            </a:r>
            <a:endParaRPr b="0" sz="4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g3a7854b30e0_0_25" title="schema_bloc_pi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37675" y="1647325"/>
            <a:ext cx="11299657" cy="79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/>
          <p:nvPr/>
        </p:nvSpPr>
        <p:spPr>
          <a:xfrm>
            <a:off x="61560" y="0"/>
            <a:ext cx="2255400" cy="960480"/>
          </a:xfrm>
          <a:custGeom>
            <a:rect b="b" l="l" r="r" t="t"/>
            <a:pathLst>
              <a:path extrusionOk="0" h="960936" w="2255738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25560" y="9686520"/>
            <a:ext cx="18226080" cy="53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A6B5C2"/>
                </a:solidFill>
                <a:latin typeface="Space Mono"/>
                <a:ea typeface="Space Mono"/>
                <a:cs typeface="Space Mono"/>
                <a:sym typeface="Space Mono"/>
              </a:rPr>
              <a:t>Prelucrarea Imaginilor - Proiect, 2025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0" y="1009800"/>
            <a:ext cx="17775000" cy="1009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 u="none" strike="noStrike">
                <a:solidFill>
                  <a:srgbClr val="2E5375"/>
                </a:solidFill>
                <a:latin typeface="Space Mono"/>
                <a:ea typeface="Space Mono"/>
                <a:cs typeface="Space Mono"/>
                <a:sym typeface="Space Mono"/>
              </a:rPr>
              <a:t>3. Evaluarea Preliminară a Soluției</a:t>
            </a:r>
            <a:endParaRPr b="0" sz="6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571680" y="2242800"/>
            <a:ext cx="17203320" cy="7999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0050" lvl="1" marL="734039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b="1" lang="en-US" sz="25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Metodologia de evaluare: </a:t>
            </a:r>
            <a:r>
              <a:rPr lang="en-US" sz="20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Dice, Jaccard</a:t>
            </a:r>
            <a:endParaRPr sz="2000">
              <a:solidFill>
                <a:schemeClr val="dk1"/>
              </a:solidFill>
            </a:endParaRPr>
          </a:p>
          <a:p>
            <a:pPr indent="-310050" lvl="1" marL="734039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b="1" lang="en-US" sz="25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Setul de date: </a:t>
            </a:r>
            <a:r>
              <a:rPr lang="en-US" sz="20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ISIC Archive 2016</a:t>
            </a:r>
            <a:endParaRPr sz="2000">
              <a:solidFill>
                <a:schemeClr val="dk1"/>
              </a:solidFill>
            </a:endParaRPr>
          </a:p>
          <a:p>
            <a:pPr indent="-310050" lvl="1" marL="734039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b="1" lang="en-US" sz="25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Exemple de cazuri de test:</a:t>
            </a:r>
            <a:r>
              <a:rPr lang="en-US" sz="20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endParaRPr sz="200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91440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</p:txBody>
      </p:sp>
      <p:pic>
        <p:nvPicPr>
          <p:cNvPr id="126" name="Google Shape;12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43200" y="0"/>
            <a:ext cx="2783240" cy="870067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/>
          <p:nvPr/>
        </p:nvSpPr>
        <p:spPr>
          <a:xfrm>
            <a:off x="0" y="-44280"/>
            <a:ext cx="18287700" cy="11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00">
                <a:solidFill>
                  <a:srgbClr val="1C375A"/>
                </a:solidFill>
                <a:latin typeface="Space Mono"/>
                <a:ea typeface="Space Mono"/>
                <a:cs typeface="Space Mono"/>
                <a:sym typeface="Space Mono"/>
              </a:rPr>
              <a:t>Segmentarea Leziunilor Pielii</a:t>
            </a:r>
            <a:endParaRPr b="0" sz="4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675" y="4094100"/>
            <a:ext cx="7453077" cy="5194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26300" y="3711500"/>
            <a:ext cx="708660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/>
          <p:nvPr/>
        </p:nvSpPr>
        <p:spPr>
          <a:xfrm>
            <a:off x="61560" y="0"/>
            <a:ext cx="2255400" cy="960480"/>
          </a:xfrm>
          <a:custGeom>
            <a:rect b="b" l="l" r="r" t="t"/>
            <a:pathLst>
              <a:path extrusionOk="0" h="960936" w="2255738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61560" y="9686520"/>
            <a:ext cx="18226080" cy="53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A6B5C2"/>
                </a:solidFill>
                <a:latin typeface="Space Mono"/>
                <a:ea typeface="Space Mono"/>
                <a:cs typeface="Space Mono"/>
                <a:sym typeface="Space Mono"/>
              </a:rPr>
              <a:t>Prelucrarea Imaginilor - Proiect, 2025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0" y="1219025"/>
            <a:ext cx="177750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 u="none" strike="noStrike">
                <a:solidFill>
                  <a:srgbClr val="2E5375"/>
                </a:solidFill>
                <a:latin typeface="Space Mono"/>
                <a:ea typeface="Space Mono"/>
                <a:cs typeface="Space Mono"/>
                <a:sym typeface="Space Mono"/>
              </a:rPr>
              <a:t>4. Rezultate Preliminare</a:t>
            </a:r>
            <a:endParaRPr b="0" sz="6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43200" y="0"/>
            <a:ext cx="2783240" cy="870067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/>
          <p:nvPr/>
        </p:nvSpPr>
        <p:spPr>
          <a:xfrm>
            <a:off x="152400" y="108120"/>
            <a:ext cx="18287700" cy="11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00">
                <a:solidFill>
                  <a:srgbClr val="1C375A"/>
                </a:solidFill>
                <a:latin typeface="Space Mono"/>
                <a:ea typeface="Space Mono"/>
                <a:cs typeface="Space Mono"/>
                <a:sym typeface="Space Mono"/>
              </a:rPr>
              <a:t>Segmentarea Leziunilor Pielii</a:t>
            </a:r>
            <a:endParaRPr b="0" sz="4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5" title="ISIC_0000003_Segmentati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4975" y="3041300"/>
            <a:ext cx="5069899" cy="3804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5" title="ISIC_0000003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0425" y="3041288"/>
            <a:ext cx="5069899" cy="3804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5" title="ISIC_0000003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219525" y="3041300"/>
            <a:ext cx="5069899" cy="380492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5"/>
          <p:cNvSpPr txBox="1"/>
          <p:nvPr/>
        </p:nvSpPr>
        <p:spPr>
          <a:xfrm>
            <a:off x="2017675" y="7330050"/>
            <a:ext cx="22554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INPUT</a:t>
            </a:r>
            <a:endParaRPr sz="2500"/>
          </a:p>
        </p:txBody>
      </p:sp>
      <p:sp>
        <p:nvSpPr>
          <p:cNvPr id="143" name="Google Shape;143;p5"/>
          <p:cNvSpPr txBox="1"/>
          <p:nvPr/>
        </p:nvSpPr>
        <p:spPr>
          <a:xfrm>
            <a:off x="7202125" y="7278850"/>
            <a:ext cx="3596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REZULTAT ASTEPTAT</a:t>
            </a:r>
            <a:endParaRPr sz="2500"/>
          </a:p>
        </p:txBody>
      </p:sp>
      <p:sp>
        <p:nvSpPr>
          <p:cNvPr id="144" name="Google Shape;144;p5"/>
          <p:cNvSpPr txBox="1"/>
          <p:nvPr/>
        </p:nvSpPr>
        <p:spPr>
          <a:xfrm>
            <a:off x="13162675" y="7230850"/>
            <a:ext cx="3183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REZULTAT PRIMIT</a:t>
            </a:r>
            <a:endParaRPr sz="2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7854b30e0_0_6"/>
          <p:cNvSpPr/>
          <p:nvPr/>
        </p:nvSpPr>
        <p:spPr>
          <a:xfrm>
            <a:off x="61560" y="0"/>
            <a:ext cx="2255738" cy="960936"/>
          </a:xfrm>
          <a:custGeom>
            <a:rect b="b" l="l" r="r" t="t"/>
            <a:pathLst>
              <a:path extrusionOk="0" h="960936" w="2255738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a7854b30e0_0_6"/>
          <p:cNvSpPr/>
          <p:nvPr/>
        </p:nvSpPr>
        <p:spPr>
          <a:xfrm>
            <a:off x="61560" y="9686520"/>
            <a:ext cx="182262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A6B5C2"/>
                </a:solidFill>
                <a:latin typeface="Space Mono"/>
                <a:ea typeface="Space Mono"/>
                <a:cs typeface="Space Mono"/>
                <a:sym typeface="Space Mono"/>
              </a:rPr>
              <a:t>Prelucrarea Imaginilor - Proiect, 2025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a7854b30e0_0_6"/>
          <p:cNvSpPr/>
          <p:nvPr/>
        </p:nvSpPr>
        <p:spPr>
          <a:xfrm>
            <a:off x="0" y="1219025"/>
            <a:ext cx="177750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 u="none" strike="noStrike">
                <a:solidFill>
                  <a:srgbClr val="2E5375"/>
                </a:solidFill>
                <a:latin typeface="Space Mono"/>
                <a:ea typeface="Space Mono"/>
                <a:cs typeface="Space Mono"/>
                <a:sym typeface="Space Mono"/>
              </a:rPr>
              <a:t>4. Rezultate Preliminare</a:t>
            </a:r>
            <a:endParaRPr b="0" sz="6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g3a7854b30e0_0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43200" y="0"/>
            <a:ext cx="2783240" cy="87006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a7854b30e0_0_6"/>
          <p:cNvSpPr/>
          <p:nvPr/>
        </p:nvSpPr>
        <p:spPr>
          <a:xfrm>
            <a:off x="152400" y="108120"/>
            <a:ext cx="18287700" cy="11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00">
                <a:solidFill>
                  <a:srgbClr val="1C375A"/>
                </a:solidFill>
                <a:latin typeface="Space Mono"/>
                <a:ea typeface="Space Mono"/>
                <a:cs typeface="Space Mono"/>
                <a:sym typeface="Space Mono"/>
              </a:rPr>
              <a:t>Segmentarea Leziunilor Pielii</a:t>
            </a:r>
            <a:endParaRPr b="0" sz="4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a7854b30e0_0_6"/>
          <p:cNvSpPr txBox="1"/>
          <p:nvPr/>
        </p:nvSpPr>
        <p:spPr>
          <a:xfrm>
            <a:off x="2017675" y="7330050"/>
            <a:ext cx="22554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INPUT</a:t>
            </a:r>
            <a:endParaRPr sz="2500"/>
          </a:p>
        </p:txBody>
      </p:sp>
      <p:sp>
        <p:nvSpPr>
          <p:cNvPr id="155" name="Google Shape;155;g3a7854b30e0_0_6"/>
          <p:cNvSpPr txBox="1"/>
          <p:nvPr/>
        </p:nvSpPr>
        <p:spPr>
          <a:xfrm>
            <a:off x="7202125" y="7278850"/>
            <a:ext cx="3596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REZULTAT ASTEPTAT</a:t>
            </a:r>
            <a:endParaRPr sz="2500"/>
          </a:p>
        </p:txBody>
      </p:sp>
      <p:sp>
        <p:nvSpPr>
          <p:cNvPr id="156" name="Google Shape;156;g3a7854b30e0_0_6"/>
          <p:cNvSpPr txBox="1"/>
          <p:nvPr/>
        </p:nvSpPr>
        <p:spPr>
          <a:xfrm>
            <a:off x="13162675" y="7230850"/>
            <a:ext cx="3183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REZULTAT PRIMIT</a:t>
            </a:r>
            <a:endParaRPr sz="2500"/>
          </a:p>
        </p:txBody>
      </p:sp>
      <p:pic>
        <p:nvPicPr>
          <p:cNvPr id="157" name="Google Shape;157;g3a7854b30e0_0_6" title="ISIC_0000012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1600" y="3204875"/>
            <a:ext cx="5020767" cy="3768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a7854b30e0_0_6" title="ISIC_0000012_Segment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90100" y="3204863"/>
            <a:ext cx="5020774" cy="3768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3a7854b30e0_0_6" title="ISIC_000001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178600" y="3204875"/>
            <a:ext cx="5020774" cy="3768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7854b30e0_0_43"/>
          <p:cNvSpPr/>
          <p:nvPr/>
        </p:nvSpPr>
        <p:spPr>
          <a:xfrm>
            <a:off x="61560" y="0"/>
            <a:ext cx="2255738" cy="960936"/>
          </a:xfrm>
          <a:custGeom>
            <a:rect b="b" l="l" r="r" t="t"/>
            <a:pathLst>
              <a:path extrusionOk="0" h="960936" w="2255738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a7854b30e0_0_43"/>
          <p:cNvSpPr/>
          <p:nvPr/>
        </p:nvSpPr>
        <p:spPr>
          <a:xfrm>
            <a:off x="61560" y="9686520"/>
            <a:ext cx="182262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A6B5C2"/>
                </a:solidFill>
                <a:latin typeface="Space Mono"/>
                <a:ea typeface="Space Mono"/>
                <a:cs typeface="Space Mono"/>
                <a:sym typeface="Space Mono"/>
              </a:rPr>
              <a:t>Prelucrarea Imaginilor - Proiect, 2025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a7854b30e0_0_43"/>
          <p:cNvSpPr/>
          <p:nvPr/>
        </p:nvSpPr>
        <p:spPr>
          <a:xfrm>
            <a:off x="0" y="1219025"/>
            <a:ext cx="177750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 u="none" strike="noStrike">
                <a:solidFill>
                  <a:srgbClr val="2E5375"/>
                </a:solidFill>
                <a:latin typeface="Space Mono"/>
                <a:ea typeface="Space Mono"/>
                <a:cs typeface="Space Mono"/>
                <a:sym typeface="Space Mono"/>
              </a:rPr>
              <a:t>4. Rezultate Preliminare</a:t>
            </a:r>
            <a:endParaRPr b="0" sz="6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g3a7854b30e0_0_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43200" y="0"/>
            <a:ext cx="2783240" cy="870067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a7854b30e0_0_43"/>
          <p:cNvSpPr/>
          <p:nvPr/>
        </p:nvSpPr>
        <p:spPr>
          <a:xfrm>
            <a:off x="152400" y="108120"/>
            <a:ext cx="18287700" cy="11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00">
                <a:solidFill>
                  <a:srgbClr val="1C375A"/>
                </a:solidFill>
                <a:latin typeface="Space Mono"/>
                <a:ea typeface="Space Mono"/>
                <a:cs typeface="Space Mono"/>
                <a:sym typeface="Space Mono"/>
              </a:rPr>
              <a:t>Segmentarea Leziunilor Pielii</a:t>
            </a:r>
            <a:endParaRPr b="0" sz="4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g3a7854b30e0_0_43" title="Screenshot from 2025-11-20 22-42-4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380925"/>
            <a:ext cx="8624001" cy="6532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a7854b30e0_0_43" title="Screenshot from 2025-11-20 22-43-2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51050" y="2394150"/>
            <a:ext cx="8723950" cy="6532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"/>
          <p:cNvSpPr/>
          <p:nvPr/>
        </p:nvSpPr>
        <p:spPr>
          <a:xfrm>
            <a:off x="61560" y="0"/>
            <a:ext cx="2255400" cy="960480"/>
          </a:xfrm>
          <a:custGeom>
            <a:rect b="b" l="l" r="r" t="t"/>
            <a:pathLst>
              <a:path extrusionOk="0" h="960936" w="2255738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61560" y="9686520"/>
            <a:ext cx="18226080" cy="53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A6B5C2"/>
                </a:solidFill>
                <a:latin typeface="Space Mono"/>
                <a:ea typeface="Space Mono"/>
                <a:cs typeface="Space Mono"/>
                <a:sym typeface="Space Mono"/>
              </a:rPr>
              <a:t>Prelucrarea Imaginilor - Proiect, 2025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0" y="1009800"/>
            <a:ext cx="17775000" cy="1009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 u="none" strike="noStrike">
                <a:solidFill>
                  <a:srgbClr val="2E5375"/>
                </a:solidFill>
                <a:latin typeface="Space Mono"/>
                <a:ea typeface="Space Mono"/>
                <a:cs typeface="Space Mono"/>
                <a:sym typeface="Space Mono"/>
              </a:rPr>
              <a:t>5. Concluzii Preliminare</a:t>
            </a:r>
            <a:endParaRPr b="0" sz="6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571680" y="2242800"/>
            <a:ext cx="17203320" cy="743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0050" lvl="1" marL="734039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b="1" lang="en-US" sz="25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Rezumatul progresului: </a:t>
            </a:r>
            <a:r>
              <a:rPr lang="en-US" sz="20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Obtinerea unor rezultate preliminare cu o acuratete de precizie medie</a:t>
            </a:r>
            <a:endParaRPr sz="2000">
              <a:solidFill>
                <a:schemeClr val="dk1"/>
              </a:solidFill>
            </a:endParaRPr>
          </a:p>
          <a:p>
            <a:pPr indent="-310050" lvl="1" marL="734039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b="1" lang="en-US" sz="25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Limitările soluției actuale: </a:t>
            </a:r>
            <a:r>
              <a:rPr lang="en-US" sz="20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Hardware, segmentarea corecta a imaginilor cu imperfectiuni</a:t>
            </a:r>
            <a:endParaRPr sz="2000">
              <a:solidFill>
                <a:schemeClr val="dk1"/>
              </a:solidFill>
            </a:endParaRPr>
          </a:p>
          <a:p>
            <a:pPr indent="-310050" lvl="1" marL="734039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b="1" lang="en-US" sz="25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Potențiale îmbunătățiri: </a:t>
            </a:r>
            <a:r>
              <a:rPr lang="en-US" sz="20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Optimizarea metodelor de preprocesare si postprocesare</a:t>
            </a:r>
            <a:endParaRPr sz="2000"/>
          </a:p>
        </p:txBody>
      </p:sp>
      <p:pic>
        <p:nvPicPr>
          <p:cNvPr id="179" name="Google Shape;17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43200" y="0"/>
            <a:ext cx="2783240" cy="870067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"/>
          <p:cNvSpPr/>
          <p:nvPr/>
        </p:nvSpPr>
        <p:spPr>
          <a:xfrm>
            <a:off x="0" y="-44280"/>
            <a:ext cx="18287700" cy="11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00">
                <a:solidFill>
                  <a:srgbClr val="1C375A"/>
                </a:solidFill>
                <a:latin typeface="Space Mono"/>
                <a:ea typeface="Space Mono"/>
                <a:cs typeface="Space Mono"/>
                <a:sym typeface="Space Mono"/>
              </a:rPr>
              <a:t>Segmentarea Leziunilor Pielii</a:t>
            </a:r>
            <a:endParaRPr b="0" sz="4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6" title="ISIC_0000036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3050" y="4259300"/>
            <a:ext cx="6682701" cy="501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6" title="ISIC_0000036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488000" y="4259300"/>
            <a:ext cx="7207025" cy="5016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/>
          <p:nvPr/>
        </p:nvSpPr>
        <p:spPr>
          <a:xfrm>
            <a:off x="61560" y="0"/>
            <a:ext cx="2255400" cy="960480"/>
          </a:xfrm>
          <a:custGeom>
            <a:rect b="b" l="l" r="r" t="t"/>
            <a:pathLst>
              <a:path extrusionOk="0" h="960936" w="2255738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61560" y="9686520"/>
            <a:ext cx="18226080" cy="53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A6B5C2"/>
                </a:solidFill>
                <a:latin typeface="Space Mono"/>
                <a:ea typeface="Space Mono"/>
                <a:cs typeface="Space Mono"/>
                <a:sym typeface="Space Mono"/>
              </a:rPr>
              <a:t>Prelucrarea Imaginilor - Proiect, 2025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0" y="1009800"/>
            <a:ext cx="17775000" cy="1009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 u="none" strike="noStrike">
                <a:solidFill>
                  <a:srgbClr val="2E5375"/>
                </a:solidFill>
                <a:latin typeface="Space Mono"/>
                <a:ea typeface="Space Mono"/>
                <a:cs typeface="Space Mono"/>
                <a:sym typeface="Space Mono"/>
              </a:rPr>
              <a:t>6. Direcții Viitoare</a:t>
            </a:r>
            <a:endParaRPr b="0" sz="6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571680" y="2242800"/>
            <a:ext cx="17203320" cy="73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0050" lvl="1" marL="734039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b="1" lang="en-US" sz="25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Pași următori: </a:t>
            </a:r>
            <a:r>
              <a:rPr lang="en-US" sz="20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Gasirea unor optimizari pentru metodele implementate, introducerea unor metode in plus de preprocesare si postprocesare</a:t>
            </a:r>
            <a:endParaRPr sz="2000">
              <a:solidFill>
                <a:schemeClr val="dk1"/>
              </a:solidFill>
            </a:endParaRPr>
          </a:p>
          <a:p>
            <a:pPr indent="-310050" lvl="1" marL="734039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b="1" lang="en-US" sz="25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Plan de implementare: </a:t>
            </a:r>
            <a:r>
              <a:rPr lang="en-US" sz="20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Gasirea bug-urilor din codul curent, completare cod, implementare de noi metode spre rezolvarea actualelor probleme</a:t>
            </a:r>
            <a:endParaRPr sz="2000">
              <a:solidFill>
                <a:schemeClr val="dk1"/>
              </a:solidFill>
            </a:endParaRPr>
          </a:p>
          <a:p>
            <a:pPr indent="-310050" lvl="1" marL="734039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b="1" lang="en-US" sz="25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Obiectivele finale: </a:t>
            </a:r>
            <a:r>
              <a:rPr lang="en-US" sz="20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Acuratete, coeficienti de precizie buni, imagini cat mai apropiate de rezultatul corect, identificare corecta a formei</a:t>
            </a:r>
            <a:endParaRPr sz="2000"/>
          </a:p>
        </p:txBody>
      </p:sp>
      <p:pic>
        <p:nvPicPr>
          <p:cNvPr id="191" name="Google Shape;19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43200" y="0"/>
            <a:ext cx="2783240" cy="870067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/>
          <p:nvPr/>
        </p:nvSpPr>
        <p:spPr>
          <a:xfrm>
            <a:off x="0" y="-44280"/>
            <a:ext cx="18287700" cy="11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00">
                <a:solidFill>
                  <a:srgbClr val="1C375A"/>
                </a:solidFill>
                <a:latin typeface="Space Mono"/>
                <a:ea typeface="Space Mono"/>
                <a:cs typeface="Space Mono"/>
                <a:sym typeface="Space Mono"/>
              </a:rPr>
              <a:t>Segmentarea Leziunilor Pielii</a:t>
            </a:r>
            <a:endParaRPr b="0" sz="4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7" title="ISIC_000017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63195" y="5343095"/>
            <a:ext cx="5945599" cy="390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7" title="ISIC_0000177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5925" y="5343100"/>
            <a:ext cx="5945599" cy="3909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